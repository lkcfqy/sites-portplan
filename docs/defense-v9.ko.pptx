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01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오늘의 반출·적출·반납을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실행 가능한 날짜로 연결합니다.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5429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PortPlan은 알려진 수입 컨테이너와 일별 운송·창고·체류 공간을 함께 계획하는 연구용 도구입니다. 이번 V9는 완전 후보를 제시간에 전달하는 문제를 검증합</a:t>
            </a:r>
          </a:p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400300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400300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609850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현재 정보·실행 잠금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895600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400300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400300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609850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완전한 날짜 후보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895600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400300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400300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609850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기한 내 검사·수락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752850"/>
            <a:ext cx="11010900" cy="6286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857625"/>
            <a:ext cx="10629900" cy="4191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 고정 평가에서 V9는 두 패널 모두 V8보다 완주 수가 많았습니다. V9 동일 생성분포 · 새 주문 시드 150/216; 스트레스 · 새 주문 시드 84/216 / V8 동일 생성분포 · 새 주문 시드 96/216; 스트레스 · 새 주문 시드 57/216 / V7 동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일</a:t>
            </a:r>
          </a:p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 생성분포 · 새 주문 시드 150/216; 스트레스 · 새 주문 시드 85/216. 합성 모델 결과이며 실제 기업 절감·우승 확률이 아닙니다.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02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세 행동의 날짜와 요금을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자원 장부에서 계산합니다.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반출·반납은 각각 운송 작업을 사용합니다. 적출은 연속 창고 일수를 차지하고, 반출부터 반납 전까지 체류 공간을 점유합니다.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7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행동/모형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계산할 항목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경계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반출 p / 적출 u / 반납 r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방출·납기·선후행·실행 잠금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일 단위 원자적 실행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운송·연속 창고·체류 [p,r)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날짜별 용량; container 또는 TEU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도로 경로·슬롯·기사 근무시간 미포함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PNC 보관료 / Maersk D&amp;D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공개 요율·기산일·누진/소급 가정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개별 계약·청구서·세금 미확인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9147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01954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비용 목표는 선언된 두 요금입니다. 기존 주문은 시작 시 모두 알려지며 신규 주문 도착을 평가하지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03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V8의 실제 후퇴를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개선의 출발점으로 남깁니다.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이전 최초 평가에서 V8은 V7보다 완주가 적었습니다. 내부 구성기가 후보를 찾았다는 사실만으로 외부 계획기가 기한 내 검사·수락했다고 볼 수 없었습니다.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7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이전 V8 평가 · 별도 입력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완주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완주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생성분포 ·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80/216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156/216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스트레스 · 새 주문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48/216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89/216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35147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36195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이전 결과와 실패를 수정하지 않습니다. 예산 소진·늦은 인수·추가 검사 비용을 V9의 개발 동기로 사용하며, 새 성능 분모에 합치지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04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V9 가설: 먼저 받은 완전 후보를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외부 검사 뒤 보존합니다.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구성기의 동기식 onCandidate가 외부 gate에 후보를 전달합니다. 외부 gate는 복사·재가격·물리/잠금 검사·선택이 끝난 시각으로 수락을 결정합니다.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구성기 후보 → 실제 수신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독립 날짜 복사·검사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기한 내 수락만 보존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공식 평가에서는 observer와 부모 후보 stream을 쓰지 않습니다. 부모 IPC 확인이나 내부 firstIncumbentMs를 일별 수락 증거로 바꾸지 않습니다. 가설의 지지는 실제 결과로 판단합니다.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05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유지·개선·복구의 조건은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전달 방식과 구분합니다.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현재 계획이 유효하면 유지하거나 더 저렴한 후보만 검토합니다. 실행한 날짜는 잠그고, 미실행 날짜 변경 수와 단기 명목 압력을 보호합니다.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조건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선언된 수락 규칙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유효 cache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기본 유지; 비용이 엄격히 낮은 후보만 개선 검토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날짜 변경·비용 허용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최대 6개 미실행 사건 변경; 0.5% 허용 경계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단기 압력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현재 명목 예측의 2일 대리 지표 비악화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무효 cache / 초기 계획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실행 잠금과 날짜 하한을 지킨 완전 복구 후보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현재 snapshot의 수락 조건입니다. 미래 완주 보장·전체 경로 비용 비증가·전역 최적을 뜻하지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06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자원이 부족하면 명시한 메뉴에서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구매 비용을 계산합니다.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5429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각 추가 자원 package에 가격·단위·날짜·가용일·허용 여부를 입력합니다. 승인된 현재/미래 package만 선택하여 고정 실행 이력을 지킨 복구안을 제안합니</a:t>
            </a:r>
          </a:p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400300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선택 목표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증명할 수 있는 범위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procurementOnly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명시된 유한 메뉴 내 추가 구매비 최소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feesPlusProcurement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현재 모델의 추가 요금 + 구매비 최소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feasible / time limit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검사한 후보; 최소 비용이 증명된 것은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optimal / infeasible proof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해당 모델·허용 메뉴에 한정; 실제 공급 보장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572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676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모형 권고이며 구매·배차를 실행하지 않습니다. 메뉴 밖 대안, 미래 미공지 충격, 실제 견적·조달 가능성·현장 수익은 검증하지 않았습니다.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07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분모와 예산은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새 입력을 만들기 전에 고정했습니다.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144개 업무 시나리오 × 5개 정책 × 3개 반복 = 2,160개 episode. 두 패널 모두 V8의 생성기·충격 유형을 유지하고 새 주문 시드를 사용했습니다.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897" cy="1800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99"/>
                <a:gridCol w="3670299"/>
                <a:gridCol w="3670299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업무 시나리오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평가 범위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생성분포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기존 생성기·충격 유형; 새 독립 입력 시드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스트레스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V8과 같은 반복 감소·회복 연장/점진 회복·연속 자원 충격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반복/예산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3회 / 냉 5,000ms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반복은 새 업무 표본 아님; 초기화·모든 결정·IPC·최종 검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사 포함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1148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2195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정책은 직렬 실행하고 순서를 순환합니다. 일별 내부 시계가 완전히 같거나 실제 운영 실시간 보장을 한다고 주장하지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08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생성분포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완주와 이력 미확보를 먼저 확인합니다.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완주는 물리 행동과 최종 검사까지 부모 기한 내 수락한 경우입니다. 이력을 확보하지 못한 episode를 물리 불가능이나 0원으로 바꾸지 않습니다.</a:t>
            </a:r>
          </a:p>
        </p:txBody>
      </p:sp>
      <p:sp>
        <p:nvSpPr>
          <p:cNvPr id="5" name="Chart method label"/>
          <p:cNvSpPr txBox="1"/>
          <p:nvPr/>
        </p:nvSpPr>
        <p:spPr>
          <a:xfrm>
            <a:off x="590550" y="21907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V5 유효 계획 유지</a:t>
            </a:r>
          </a:p>
        </p:txBody>
      </p:sp>
      <p:sp>
        <p:nvSpPr>
          <p:cNvPr id="6" name="Editable completion bar track"/>
          <p:cNvSpPr/>
          <p:nvPr/>
        </p:nvSpPr>
        <p:spPr>
          <a:xfrm>
            <a:off x="3067050" y="21812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completion bar"/>
          <p:cNvSpPr/>
          <p:nvPr/>
        </p:nvSpPr>
        <p:spPr>
          <a:xfrm>
            <a:off x="3067050" y="2181225"/>
            <a:ext cx="3299354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rt exact value"/>
          <p:cNvSpPr txBox="1"/>
          <p:nvPr/>
        </p:nvSpPr>
        <p:spPr>
          <a:xfrm>
            <a:off x="8801100" y="21812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129/216 · 3/3 43 · 미확보 0</a:t>
            </a:r>
          </a:p>
        </p:txBody>
      </p:sp>
      <p:sp>
        <p:nvSpPr>
          <p:cNvPr id="9" name="Chart method label"/>
          <p:cNvSpPr txBox="1"/>
          <p:nvPr/>
        </p:nvSpPr>
        <p:spPr>
          <a:xfrm>
            <a:off x="590550" y="2695575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V7 비용 다듬기</a:t>
            </a:r>
          </a:p>
        </p:txBody>
      </p:sp>
      <p:sp>
        <p:nvSpPr>
          <p:cNvPr id="10" name="Editable completion bar track"/>
          <p:cNvSpPr/>
          <p:nvPr/>
        </p:nvSpPr>
        <p:spPr>
          <a:xfrm>
            <a:off x="3067050" y="268605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completion bar"/>
          <p:cNvSpPr/>
          <p:nvPr/>
        </p:nvSpPr>
        <p:spPr>
          <a:xfrm>
            <a:off x="3067050" y="2686050"/>
            <a:ext cx="3836458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 exact value"/>
          <p:cNvSpPr txBox="1"/>
          <p:nvPr/>
        </p:nvSpPr>
        <p:spPr>
          <a:xfrm>
            <a:off x="8801100" y="268605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150/216 · 3/3 50 · 미확보 0</a:t>
            </a:r>
          </a:p>
        </p:txBody>
      </p:sp>
      <p:sp>
        <p:nvSpPr>
          <p:cNvPr id="13" name="Chart method label"/>
          <p:cNvSpPr txBox="1"/>
          <p:nvPr/>
        </p:nvSpPr>
        <p:spPr>
          <a:xfrm>
            <a:off x="590550" y="320040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V8 조건부 의사결정</a:t>
            </a:r>
          </a:p>
        </p:txBody>
      </p:sp>
      <p:sp>
        <p:nvSpPr>
          <p:cNvPr id="14" name="Editable completion bar track"/>
          <p:cNvSpPr/>
          <p:nvPr/>
        </p:nvSpPr>
        <p:spPr>
          <a:xfrm>
            <a:off x="3067050" y="319087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completion bar"/>
          <p:cNvSpPr/>
          <p:nvPr/>
        </p:nvSpPr>
        <p:spPr>
          <a:xfrm>
            <a:off x="3067050" y="3190875"/>
            <a:ext cx="2455333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 exact value"/>
          <p:cNvSpPr txBox="1"/>
          <p:nvPr/>
        </p:nvSpPr>
        <p:spPr>
          <a:xfrm>
            <a:off x="8801100" y="319087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96/216 · 3/3 32 · 미확보 0</a:t>
            </a:r>
          </a:p>
        </p:txBody>
      </p:sp>
      <p:sp>
        <p:nvSpPr>
          <p:cNvPr id="17" name="Chart method label"/>
          <p:cNvSpPr txBox="1"/>
          <p:nvPr/>
        </p:nvSpPr>
        <p:spPr>
          <a:xfrm>
            <a:off x="590550" y="3705224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V9 적시 후보 전달</a:t>
            </a:r>
          </a:p>
        </p:txBody>
      </p:sp>
      <p:sp>
        <p:nvSpPr>
          <p:cNvPr id="18" name="Editable completion bar track"/>
          <p:cNvSpPr/>
          <p:nvPr/>
        </p:nvSpPr>
        <p:spPr>
          <a:xfrm>
            <a:off x="3067050" y="369570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completion bar"/>
          <p:cNvSpPr/>
          <p:nvPr/>
        </p:nvSpPr>
        <p:spPr>
          <a:xfrm>
            <a:off x="3067050" y="3695700"/>
            <a:ext cx="3836458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 exact value"/>
          <p:cNvSpPr txBox="1"/>
          <p:nvPr/>
        </p:nvSpPr>
        <p:spPr>
          <a:xfrm>
            <a:off x="8801100" y="369570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150/216 · 3/3 50 · 미확보 0</a:t>
            </a:r>
          </a:p>
        </p:txBody>
      </p:sp>
      <p:sp>
        <p:nvSpPr>
          <p:cNvPr id="21" name="Chart method label"/>
          <p:cNvSpPr txBox="1"/>
          <p:nvPr/>
        </p:nvSpPr>
        <p:spPr>
          <a:xfrm>
            <a:off x="590550" y="42100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독립 native HiGHS</a:t>
            </a:r>
          </a:p>
        </p:txBody>
      </p:sp>
      <p:sp>
        <p:nvSpPr>
          <p:cNvPr id="22" name="Editable completion bar track"/>
          <p:cNvSpPr/>
          <p:nvPr/>
        </p:nvSpPr>
        <p:spPr>
          <a:xfrm>
            <a:off x="3067050" y="42005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completion bar"/>
          <p:cNvSpPr/>
          <p:nvPr/>
        </p:nvSpPr>
        <p:spPr>
          <a:xfrm>
            <a:off x="3067050" y="4200525"/>
            <a:ext cx="3989916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 exact value"/>
          <p:cNvSpPr txBox="1"/>
          <p:nvPr/>
        </p:nvSpPr>
        <p:spPr>
          <a:xfrm>
            <a:off x="8801100" y="42005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156/216 · 3/3 52 · 미확보 0</a:t>
            </a:r>
          </a:p>
        </p:txBody>
      </p:sp>
      <p:sp>
        <p:nvSpPr>
          <p:cNvPr id="25" name="Editable boundary note background"/>
          <p:cNvSpPr/>
          <p:nvPr/>
        </p:nvSpPr>
        <p:spPr>
          <a:xfrm>
            <a:off x="590550" y="474345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idence boundary note"/>
          <p:cNvSpPr txBox="1"/>
          <p:nvPr/>
        </p:nvSpPr>
        <p:spPr>
          <a:xfrm>
            <a:off x="781050" y="484822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막대는 episode 완주 수입니다. 3회 모두 완주한 시나리오와 미확보 이력을 별도로 표시합니다.</a:t>
            </a:r>
          </a:p>
        </p:txBody>
      </p:sp>
      <p:sp>
        <p:nvSpPr>
          <p:cNvPr id="27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28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09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동일 생성분포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공동 완주한 동일 반복만 요금을 비교합니다.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양수는 후보가 더 저렴합니다. 시나리오마다 일치하는 완주 반복을 먼저 평균하고 시나리오를 동일 가중합니다.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40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후보 / 기준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 / 쌍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낮음/동일/높음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 / V8 조건부 의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사결정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32 / 96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0/32/0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 / V7 비용 다듬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50 / 150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-0.68%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-1.22%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7/40/3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 / V5 유효 계획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 / 123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-3.72%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-7.00%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1/31/9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 / 독립 native H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45 / 135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-6.62%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-12.36%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2/22/21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 / V7 비용 다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45 / 135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5.59%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9.95%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22/21/2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715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819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비교마다 선택된 분모가 다릅니다. 실패 비용은 null입니다. 원화 분모·모든 악화 ID·조건부 구간은 보고서에 공개합니다.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10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완주와 이력 미확보를 먼저 확인합니다.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완주는 물리 행동과 최종 검사까지 부모 기한 내 수락한 경우입니다. 이력을 확보하지 못한 episode를 물리 불가능이나 0원으로 바꾸지 않습니다.</a:t>
            </a:r>
          </a:p>
        </p:txBody>
      </p:sp>
      <p:sp>
        <p:nvSpPr>
          <p:cNvPr id="5" name="Chart method label"/>
          <p:cNvSpPr txBox="1"/>
          <p:nvPr/>
        </p:nvSpPr>
        <p:spPr>
          <a:xfrm>
            <a:off x="590550" y="21907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V5 유효 계획 유지</a:t>
            </a:r>
          </a:p>
        </p:txBody>
      </p:sp>
      <p:sp>
        <p:nvSpPr>
          <p:cNvPr id="6" name="Editable completion bar track"/>
          <p:cNvSpPr/>
          <p:nvPr/>
        </p:nvSpPr>
        <p:spPr>
          <a:xfrm>
            <a:off x="3067050" y="21812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completion bar"/>
          <p:cNvSpPr/>
          <p:nvPr/>
        </p:nvSpPr>
        <p:spPr>
          <a:xfrm>
            <a:off x="3067050" y="2181225"/>
            <a:ext cx="1841500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rt exact value"/>
          <p:cNvSpPr txBox="1"/>
          <p:nvPr/>
        </p:nvSpPr>
        <p:spPr>
          <a:xfrm>
            <a:off x="8801100" y="21812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72/216 · 3/3 23 · 미확보 0</a:t>
            </a:r>
          </a:p>
        </p:txBody>
      </p:sp>
      <p:sp>
        <p:nvSpPr>
          <p:cNvPr id="9" name="Chart method label"/>
          <p:cNvSpPr txBox="1"/>
          <p:nvPr/>
        </p:nvSpPr>
        <p:spPr>
          <a:xfrm>
            <a:off x="590550" y="2695575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V7 비용 다듬기</a:t>
            </a:r>
          </a:p>
        </p:txBody>
      </p:sp>
      <p:sp>
        <p:nvSpPr>
          <p:cNvPr id="10" name="Editable completion bar track"/>
          <p:cNvSpPr/>
          <p:nvPr/>
        </p:nvSpPr>
        <p:spPr>
          <a:xfrm>
            <a:off x="3067050" y="268605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completion bar"/>
          <p:cNvSpPr/>
          <p:nvPr/>
        </p:nvSpPr>
        <p:spPr>
          <a:xfrm>
            <a:off x="3067050" y="2686050"/>
            <a:ext cx="2173993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 exact value"/>
          <p:cNvSpPr txBox="1"/>
          <p:nvPr/>
        </p:nvSpPr>
        <p:spPr>
          <a:xfrm>
            <a:off x="8801100" y="268605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85/216 · 3/3 28 · 미확보 0</a:t>
            </a:r>
          </a:p>
        </p:txBody>
      </p:sp>
      <p:sp>
        <p:nvSpPr>
          <p:cNvPr id="13" name="Chart method label"/>
          <p:cNvSpPr txBox="1"/>
          <p:nvPr/>
        </p:nvSpPr>
        <p:spPr>
          <a:xfrm>
            <a:off x="590550" y="320040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V8 조건부 의사결정</a:t>
            </a:r>
          </a:p>
        </p:txBody>
      </p:sp>
      <p:sp>
        <p:nvSpPr>
          <p:cNvPr id="14" name="Editable completion bar track"/>
          <p:cNvSpPr/>
          <p:nvPr/>
        </p:nvSpPr>
        <p:spPr>
          <a:xfrm>
            <a:off x="3067050" y="319087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completion bar"/>
          <p:cNvSpPr/>
          <p:nvPr/>
        </p:nvSpPr>
        <p:spPr>
          <a:xfrm>
            <a:off x="3067050" y="3190875"/>
            <a:ext cx="1457854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 exact value"/>
          <p:cNvSpPr txBox="1"/>
          <p:nvPr/>
        </p:nvSpPr>
        <p:spPr>
          <a:xfrm>
            <a:off x="8801100" y="319087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57/216 · 3/3 19 · 미확보 0</a:t>
            </a:r>
          </a:p>
        </p:txBody>
      </p:sp>
      <p:sp>
        <p:nvSpPr>
          <p:cNvPr id="17" name="Chart method label"/>
          <p:cNvSpPr txBox="1"/>
          <p:nvPr/>
        </p:nvSpPr>
        <p:spPr>
          <a:xfrm>
            <a:off x="590550" y="3705224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V9 적시 후보 전달</a:t>
            </a:r>
          </a:p>
        </p:txBody>
      </p:sp>
      <p:sp>
        <p:nvSpPr>
          <p:cNvPr id="18" name="Editable completion bar track"/>
          <p:cNvSpPr/>
          <p:nvPr/>
        </p:nvSpPr>
        <p:spPr>
          <a:xfrm>
            <a:off x="3067050" y="3695700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completion bar"/>
          <p:cNvSpPr/>
          <p:nvPr/>
        </p:nvSpPr>
        <p:spPr>
          <a:xfrm>
            <a:off x="3067050" y="3695700"/>
            <a:ext cx="2148416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 exact value"/>
          <p:cNvSpPr txBox="1"/>
          <p:nvPr/>
        </p:nvSpPr>
        <p:spPr>
          <a:xfrm>
            <a:off x="8801100" y="3695700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84/216 · 3/3 27 · 미확보 0</a:t>
            </a:r>
          </a:p>
        </p:txBody>
      </p:sp>
      <p:sp>
        <p:nvSpPr>
          <p:cNvPr id="21" name="Chart method label"/>
          <p:cNvSpPr txBox="1"/>
          <p:nvPr/>
        </p:nvSpPr>
        <p:spPr>
          <a:xfrm>
            <a:off x="590550" y="4210050"/>
            <a:ext cx="2400300" cy="247649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독립 native HiGHS</a:t>
            </a:r>
          </a:p>
        </p:txBody>
      </p:sp>
      <p:sp>
        <p:nvSpPr>
          <p:cNvPr id="22" name="Editable completion bar track"/>
          <p:cNvSpPr/>
          <p:nvPr/>
        </p:nvSpPr>
        <p:spPr>
          <a:xfrm>
            <a:off x="3067050" y="4200525"/>
            <a:ext cx="5524500" cy="19050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completion bar"/>
          <p:cNvSpPr/>
          <p:nvPr/>
        </p:nvSpPr>
        <p:spPr>
          <a:xfrm>
            <a:off x="3067050" y="4200525"/>
            <a:ext cx="3043590" cy="19050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 exact value"/>
          <p:cNvSpPr txBox="1"/>
          <p:nvPr/>
        </p:nvSpPr>
        <p:spPr>
          <a:xfrm>
            <a:off x="8801100" y="4200525"/>
            <a:ext cx="280035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119/216 · 3/3 39 · 미확보 0</a:t>
            </a:r>
          </a:p>
        </p:txBody>
      </p:sp>
      <p:sp>
        <p:nvSpPr>
          <p:cNvPr id="25" name="Editable boundary note background"/>
          <p:cNvSpPr/>
          <p:nvPr/>
        </p:nvSpPr>
        <p:spPr>
          <a:xfrm>
            <a:off x="590550" y="474345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idence boundary note"/>
          <p:cNvSpPr txBox="1"/>
          <p:nvPr/>
        </p:nvSpPr>
        <p:spPr>
          <a:xfrm>
            <a:off x="781050" y="484822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막대는 episode 완주 수입니다. 3회 모두 완주한 시나리오와 미확보 이력을 별도로 표시합니다.</a:t>
            </a:r>
          </a:p>
        </p:txBody>
      </p:sp>
      <p:sp>
        <p:nvSpPr>
          <p:cNvPr id="27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28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11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스트레스 · 새 주문 시드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공동 완주한 동일 반복만 요금을 비교합니다.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양수는 후보가 더 저렴합니다. 시나리오마다 일치하는 완주 반복을 먼저 평균하고 시나리오를 동일 가중합니다.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340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후보 / 기준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 / 쌍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추가요금 절감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낮음/동일/높음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 / V8 조건부 의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사결정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19 / 55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-0.08%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0/17/2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 / V7 비용 다듬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 / 83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0.03%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0.05%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2/24/2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 / V5 유효 계획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25 / 70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-3.71%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-6.54%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0/16/9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 / 독립 native H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iGHS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26 / 77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-4.22%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-7.45%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1/11/14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600075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 / V7 비용 다</a:t>
                      </a:r>
                    </a:p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듬기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26 / 78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4.09%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6.99%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13/12/1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715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819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비교마다 선택된 분모가 다릅니다. 실패 비용은 null입니다. 원화 분모·모든 악화 ID·조건부 구간은 보고서에 공개합니다.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12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 손실과 비용 악화를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모든 비교에서 보존합니다.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완주 증감은 episode 기준이며, 최악 요금 악화는 공동 완주 시나리오 평균 기준입니다. 유리한 분모만 골라 결론을 바꾸지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비교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총요금 악화 시나리오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최악 증가 ₩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완주 얻음/잃음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v9VsV8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54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1,799,833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v9VsV5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4,937,067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27 / 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v9VsHiGHS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5,265,267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 / 21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45,000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 / 15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v9VsV8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29,433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 / 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29,433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 / 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v9VsV5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9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2,000,217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14 / 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v9VsHiGHS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2,347,250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 / 42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highsVsV7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18,200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 / 7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29018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39495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총/추가 요금의 모든 악화 시나리오·반복 ID와 완주 손실 ID를 별도 보고서에 그대로 남깁니다.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13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더 많은 완주에도 계산과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날짜 변경의 대가가 있습니다.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날짜 변경은 미실행 사건 날짜의 변경 횟수입니다. 서로 다른 상자 수·작업자 시간·재배차 비용으로 바꾸어 해석하지 않습니다.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180"/>
                <a:gridCol w="2202180"/>
                <a:gridCol w="2202180"/>
                <a:gridCol w="2202180"/>
                <a:gridCol w="2202180"/>
              </a:tblGrid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패널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정책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평균 부모 ms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강제 기한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관측 변경 / 미확보 episode</a:t>
                      </a:r>
                    </a:p>
                  </a:txBody>
                  <a:tcPr marL="95250" marR="95250" marT="47625" marB="47625">
                    <a:solidFill>
                      <a:srgbClr val="E6F0E4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V5 유효 계획 유지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287.5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4172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303.6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7493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249.8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2184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356.4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7524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same-distribution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569.1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54054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V5 유효 계획 유지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308.4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5836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V7 비용 다듬기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394.3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14945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V8 조건부 의사결정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265.5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2918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적시 후보 전달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431.6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15395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  <a:tr h="27051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stress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native HiGHS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564.1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1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52530 / 0</a:t>
                      </a:r>
                    </a:p>
                  </a:txBody>
                  <a:tcPr marL="95250" marR="95250" marT="47625" marB="476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529018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5394959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native HiGHS는 같은 모델의 서버 기준이며 웹의 GLPK와 구분합니다. native 시작 시간도 전체 부모 예산에 포함합니다.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14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후보를 찾은 시각과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검사·수락한 시각을 구분합니다.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각 V9 일별 후보의 실제 수신·복사 완료·감사 완료·선택 완료·수락 시각을 전체 receipt sequence와 날짜로 보존합니다. 늦은 후보와 거부 이유도 남깁니다.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보존하는 증거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확인할 경계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candidateDelivery.events 전체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수신·복사·감사·선택의 순서와 예산 경계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선택된 sequence와 날짜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독립 재가격·자원·물리 잠금 재구성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늦음·무효·guard 거부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성공 후보만 선별하지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전체 episode receipt 없음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과거 이력·비용 미확보; 후보 부재 증명 아님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별도 Python 검산은 기록된 시각의 일관성과 날짜를 재구성합니다. 외부 계측 인증이나 절대 CPU/실시간 보장이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15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물리와 통계는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서로 다른 Python 검산으로 확인합니다.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독립 장부가 2,160개 episode, 수락 계획 16,519개, 기록된 물리 행동 209,468개를 재구성했습니다. 구간은 별도 통계 검산에 연결합니다.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검산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범위와 한계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물리·요율·잠금·V9 gate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JS 행렬 미재사용; 내부 독립 구현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scenario-cluster 95% bootstrap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시나리오 단위 재표집; 별도 Python 재계산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공동 완주 조건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비용 구간의 완주 선택 편향은 남음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현장·전역 최적·외부 인증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이 검산으로 확인하지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두 검산은 같은 formal index와 frozen manifest SHA에 묶습니다. 432개 반복을 432개 독립 시나리오로 세지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16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화면에서 내 입력과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명시적 보완 자원을 검토합니다.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주문·모의 용량 사건을 입력하고 두 정책을 순차 비교합니다. 날짜별 정보·실행 잠금·권고·중단 이유를 확인하고 정확한 입력과 결과를 내보냅니다.</a:t>
            </a:r>
          </a:p>
        </p:txBody>
      </p:sp>
      <p:sp>
        <p:nvSpPr>
          <p:cNvPr id="5" name="Flow node 1"/>
          <p:cNvSpPr/>
          <p:nvPr/>
        </p:nvSpPr>
        <p:spPr>
          <a:xfrm>
            <a:off x="5905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 node accent"/>
          <p:cNvSpPr/>
          <p:nvPr/>
        </p:nvSpPr>
        <p:spPr>
          <a:xfrm>
            <a:off x="5905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flow label"/>
          <p:cNvSpPr txBox="1"/>
          <p:nvPr/>
        </p:nvSpPr>
        <p:spPr>
          <a:xfrm>
            <a:off x="7620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입력·가정 확인</a:t>
            </a:r>
          </a:p>
        </p:txBody>
      </p:sp>
      <p:sp>
        <p:nvSpPr>
          <p:cNvPr id="8" name="Editable flow arrow"/>
          <p:cNvSpPr/>
          <p:nvPr/>
        </p:nvSpPr>
        <p:spPr>
          <a:xfrm>
            <a:off x="415925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 node 2"/>
          <p:cNvSpPr/>
          <p:nvPr/>
        </p:nvSpPr>
        <p:spPr>
          <a:xfrm>
            <a:off x="433070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node accent"/>
          <p:cNvSpPr/>
          <p:nvPr/>
        </p:nvSpPr>
        <p:spPr>
          <a:xfrm>
            <a:off x="433070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flow label"/>
          <p:cNvSpPr txBox="1"/>
          <p:nvPr/>
        </p:nvSpPr>
        <p:spPr>
          <a:xfrm>
            <a:off x="450215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계획·실패·메뉴 권고</a:t>
            </a:r>
          </a:p>
        </p:txBody>
      </p:sp>
      <p:sp>
        <p:nvSpPr>
          <p:cNvPr id="12" name="Editable flow arrow"/>
          <p:cNvSpPr/>
          <p:nvPr/>
        </p:nvSpPr>
        <p:spPr>
          <a:xfrm>
            <a:off x="7899400" y="2638425"/>
            <a:ext cx="133350" cy="133350"/>
          </a:xfrm>
          <a:prstGeom prst="chevron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node 3"/>
          <p:cNvSpPr/>
          <p:nvPr/>
        </p:nvSpPr>
        <p:spPr>
          <a:xfrm>
            <a:off x="8070850" y="2143125"/>
            <a:ext cx="3530600" cy="1123950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 node accent"/>
          <p:cNvSpPr/>
          <p:nvPr/>
        </p:nvSpPr>
        <p:spPr>
          <a:xfrm>
            <a:off x="8070850" y="2143125"/>
            <a:ext cx="47625" cy="1123950"/>
          </a:xfrm>
          <a:prstGeom prst="rect">
            <a:avLst/>
          </a:prstGeom>
          <a:solidFill>
            <a:srgbClr val="358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flow label"/>
          <p:cNvSpPr txBox="1"/>
          <p:nvPr/>
        </p:nvSpPr>
        <p:spPr>
          <a:xfrm>
            <a:off x="8242300" y="2352675"/>
            <a:ext cx="3187700" cy="76200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입력·장부 내보내기</a:t>
            </a:r>
          </a:p>
        </p:txBody>
      </p:sp>
      <p:sp>
        <p:nvSpPr>
          <p:cNvPr id="16" name="Editable boundary note background"/>
          <p:cNvSpPr/>
          <p:nvPr/>
        </p:nvSpPr>
        <p:spPr>
          <a:xfrm>
            <a:off x="590550" y="349567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vidence boundary note"/>
          <p:cNvSpPr txBox="1"/>
          <p:nvPr/>
        </p:nvSpPr>
        <p:spPr>
          <a:xfrm>
            <a:off x="781050" y="360045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작은 성공/중단 예시는 합성 학습용입니다. 공식 144개 연구 입력이나 실제 현장 실적이 아닙니다. 보완 자원 제안은 구매가 아닙니다.</a:t>
            </a:r>
          </a:p>
        </p:txBody>
      </p:sp>
      <p:sp>
        <p:nvSpPr>
          <p:cNvPr id="1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1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17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개인 기여와 현실 검증을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대신 완료로 표시하지 않습니다.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5429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이번 증거는 알려진 합성 주문의 일별 완주·요금·안정성에 한정됩니다. 기존 PSPLIB와 벌크항만 로그의 부분 검증을 실제 컨테이너 절감으로 합치지 않습니다</a:t>
            </a:r>
          </a:p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400300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주체/주장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현재 상태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구현·실험·검산·자료 작성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AI 수행; 원 연구·코드·라이선스 귀속 유지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사용자 본인 개발·이해·발표 숙련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pending · 대신 인정하지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전문가·기업·실제 청구·실현 절감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미수행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참가 자격·등록·서약·AI 규정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본 자료로 확인하거나 제출하지 않음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572000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676775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최초 알고리즘·SOTA·모든 경우 우월·현실 ROI·우승 확률을 주장하지 않습니다.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index"/>
          <p:cNvSpPr txBox="1"/>
          <p:nvPr/>
        </p:nvSpPr>
        <p:spPr>
          <a:xfrm>
            <a:off x="590550" y="295275"/>
            <a:ext cx="11010900" cy="21907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975">
                <a:solidFill>
                  <a:srgbClr val="35826D"/>
                </a:solidFill>
                <a:latin typeface="Noto Sans CJK KR"/>
                <a:ea typeface="Noto Sans CJK KR"/>
              </a:defRPr>
            </a:pPr>
            <a:r>
              <a:t>18 / PORTPLAN V9</a:t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0550" y="685800"/>
            <a:ext cx="11010900" cy="8477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같은 결정을 다시 계산할</a:t>
            </a:r>
          </a:p>
          <a:p>
            <a:pPr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defRPr sz="2475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전체 증거를 전달합니다.</a:t>
            </a:r>
          </a:p>
        </p:txBody>
      </p:sp>
      <p:sp>
        <p:nvSpPr>
          <p:cNvPr id="4" name="Main explanation"/>
          <p:cNvSpPr txBox="1"/>
          <p:nvPr/>
        </p:nvSpPr>
        <p:spPr>
          <a:xfrm>
            <a:off x="590550" y="1676400"/>
            <a:ext cx="11010900" cy="2857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새 입력·모든 반복·실패·기한 손실·완전한 후보 receipt·고정 source·독립 검산을 SHA로 연결합니다. 재현은 새 경로에 기록합니다.</a:t>
            </a:r>
          </a:p>
        </p:txBody>
      </p:sp>
      <p:graphicFrame>
        <p:nvGraphicFramePr>
          <p:cNvPr id="5" name="Editable evidence table"/>
          <p:cNvGraphicFramePr>
            <a:graphicFrameLocks noGrp="1"/>
          </p:cNvGraphicFramePr>
          <p:nvPr/>
        </p:nvGraphicFramePr>
        <p:xfrm>
          <a:off x="590550" y="2143125"/>
          <a:ext cx="110109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0"/>
                <a:gridCol w="5772150"/>
              </a:tblGrid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자료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확인할 내용</a:t>
                      </a:r>
                    </a:p>
                  </a:txBody>
                  <a:tcPr marL="95250" marR="95250" marT="85725" marB="85725">
                    <a:solidFill>
                      <a:srgbClr val="E6F0E4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한국어 보고서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정확한 원화·분모·구간·모든 악화/손실 ID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동일 원고의 PDF / 편집 가능 PPTX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18쪽 이하; 표·문자·도형이 편집 가능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영어 이해 노트 / 기여 기록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가정·결과·한계·미확인 본인 작업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  <a:tr h="400050"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V9 formal archive + 두 검산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  <a:tc>
                  <a:txBody>
                    <a:bodyPr wrap="none" lIns="0" rIns="0" tIns="0" bIns="0" anchor="t">
                      <a:normAutofit/>
                    </a:bodyPr>
                    <a:lstStyle/>
                    <a:p>
                      <a:pPr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25">
                          <a:solidFill>
                            <a:srgbClr val="173C40"/>
                          </a:solidFill>
                          <a:latin typeface="Noto Sans CJK KR"/>
                          <a:ea typeface="Noto Sans CJK KR"/>
                        </a:defRPr>
                      </a:pPr>
                      <a:r>
                        <a:t>원 입력·모든 episode·고정 source의 해시 연결</a:t>
                      </a:r>
                    </a:p>
                  </a:txBody>
                  <a:tcPr marL="95250" marR="95250" marT="85725" marB="85725">
                    <a:solidFill>
                      <a:srgbClr val="F7FAF5"/>
                    </a:solidFill>
                  </a:tcPr>
                </a:tc>
              </a:tr>
            </a:tbl>
          </a:graphicData>
        </a:graphic>
      </p:graphicFrame>
      <p:sp>
        <p:nvSpPr>
          <p:cNvPr id="6" name="Editable boundary note background"/>
          <p:cNvSpPr/>
          <p:nvPr/>
        </p:nvSpPr>
        <p:spPr>
          <a:xfrm>
            <a:off x="590550" y="4314825"/>
            <a:ext cx="11010900" cy="447675"/>
          </a:xfrm>
          <a:prstGeom prst="rect">
            <a:avLst/>
          </a:prstGeom>
          <a:solidFill>
            <a:srgbClr val="E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vidence boundary note"/>
          <p:cNvSpPr txBox="1"/>
          <p:nvPr/>
        </p:nvSpPr>
        <p:spPr>
          <a:xfrm>
            <a:off x="781050" y="4419600"/>
            <a:ext cx="10629900" cy="238125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173C40"/>
                </a:solidFill>
                <a:latin typeface="Noto Sans CJK KR"/>
                <a:ea typeface="Noto Sans CJK KR"/>
              </a:defRPr>
            </a:pPr>
            <a:r>
              <a:t>이 고정 평가에서 V9는 두 패널 모두 V8보다 완주 수가 많았습니다. 다음 판단도 완주·조건부 요금·변경 대가를 함께 사용합니다. 자료 준비는 대회 제출이나 서명이 아닙니다.</a:t>
            </a:r>
          </a:p>
        </p:txBody>
      </p:sp>
      <p:sp>
        <p:nvSpPr>
          <p:cNvPr id="8" name="Contribution footer"/>
          <p:cNvSpPr txBox="1"/>
          <p:nvPr/>
        </p:nvSpPr>
        <p:spPr>
          <a:xfrm>
            <a:off x="590550" y="64579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AI 작성 준비 자료 · 본인 검토·현장 검증 미확인</a:t>
            </a:r>
          </a:p>
        </p:txBody>
      </p:sp>
      <p:sp>
        <p:nvSpPr>
          <p:cNvPr id="9" name="Page footer"/>
          <p:cNvSpPr txBox="1"/>
          <p:nvPr/>
        </p:nvSpPr>
        <p:spPr>
          <a:xfrm>
            <a:off x="9906000" y="6457950"/>
            <a:ext cx="1695450" cy="171450"/>
          </a:xfrm>
          <a:prstGeom prst="rect">
            <a:avLst/>
          </a:prstGeom>
          <a:noFill/>
        </p:spPr>
        <p:txBody>
          <a:bodyPr wrap="none" lIns="0" rIns="0" tIns="0" bIns="0" anchor="t">
            <a:norm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638176"/>
                </a:solidFill>
                <a:latin typeface="Noto Sans CJK KR"/>
                <a:ea typeface="Noto Sans CJK KR"/>
              </a:defRPr>
            </a:pPr>
            <a:r>
              <a:t>PORTPLAN V9 /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PortPlan V9 · Korean competition preparation</dc:title>
  <dc:subject>Editable result-driven research deck; synthetic daily model</dc:subject>
  <dc:creator>AI-assisted PortPlan research; entrant verification pending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